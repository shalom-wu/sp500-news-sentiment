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up</c:v>
                </c:pt>
              </c:strCache>
            </c:strRef>
          </c:tx>
          <c:dPt>
            <c:idx val="0"/>
            <c:spPr>
              <a:solidFill>
                <a:srgbClr val="A5ACB8"/>
              </a:solidFill>
            </c:spPr>
          </c:dPt>
          <c:dPt>
            <c:idx val="1"/>
            <c:spPr>
              <a:solidFill>
                <a:srgbClr val="A5ACB8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cat>
            <c:strRef>
              <c:f>Sheet1!$A$2:$A$4</c:f>
              <c:strCache>
                <c:ptCount val="3"/>
                <c:pt idx="0">
                  <c:v>Most negative
third</c:v>
                </c:pt>
                <c:pt idx="1">
                  <c:v>Middle
third</c:v>
                </c:pt>
                <c:pt idx="2">
                  <c:v>Most positive
third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0.5178</c:v>
                </c:pt>
                <c:pt idx="1">
                  <c:v>0.5299</c:v>
                </c:pt>
                <c:pt idx="2">
                  <c:v>0.5682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 b="1">
                  <a:solidFill>
                    <a:srgbClr val="333A4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>
                <a:solidFill>
                  <a:srgbClr val="333A4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2"/>
          <c:min val="0.45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invertIfNegative val="0"/>
          <c:tx>
            <c:strRef>
              <c:f>Sheet1!$B$1</c:f>
              <c:strCache>
                <c:ptCount val="1"/>
                <c:pt idx="0">
                  <c:v>mean sentiment</c:v>
                </c:pt>
              </c:strCache>
            </c:strRef>
          </c:tx>
          <c:dPt>
            <c:idx val="0"/>
            <c:invertIfNegative val="0"/>
            <c:spPr>
              <a:solidFill>
                <a:srgbClr val="C0392B"/>
              </a:solidFill>
            </c:spPr>
          </c:dPt>
          <c:dPt>
            <c:idx val="1"/>
            <c:invertIfNegative val="0"/>
            <c:spPr>
              <a:solidFill>
                <a:srgbClr val="C0392B"/>
              </a:solidFill>
            </c:spPr>
          </c:dPt>
          <c:dPt>
            <c:idx val="2"/>
            <c:invertIfNegative val="0"/>
            <c:spPr>
              <a:solidFill>
                <a:srgbClr val="C0392B"/>
              </a:solidFill>
            </c:spPr>
          </c:dPt>
          <c:dPt>
            <c:idx val="3"/>
            <c:invertIfNegative val="0"/>
            <c:spPr>
              <a:solidFill>
                <a:srgbClr val="C0392B"/>
              </a:solidFill>
            </c:spPr>
          </c:dPt>
          <c:dPt>
            <c:idx val="4"/>
            <c:invertIfNegative val="0"/>
            <c:spPr>
              <a:solidFill>
                <a:srgbClr val="1E2761"/>
              </a:solidFill>
            </c:spPr>
          </c:dPt>
          <c:cat>
            <c:strRef>
              <c:f>Sheet1!$A$2:$A$6</c:f>
              <c:strCache>
                <c:ptCount val="5"/>
                <c:pt idx="0">
                  <c:v>2022 bear market</c:v>
                </c:pt>
                <c:pt idx="1">
                  <c:v>2020 COVID crash</c:v>
                </c:pt>
                <c:pt idx="2">
                  <c:v>2011 US downgrade</c:v>
                </c:pt>
                <c:pt idx="3">
                  <c:v>2008 financial crisis</c:v>
                </c:pt>
                <c:pt idx="4">
                  <c:v>Full sample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-0.11</c:v>
                </c:pt>
                <c:pt idx="1">
                  <c:v>-0.201</c:v>
                </c:pt>
                <c:pt idx="2">
                  <c:v>-0.066</c:v>
                </c:pt>
                <c:pt idx="3">
                  <c:v>-0.337</c:v>
                </c:pt>
                <c:pt idx="4">
                  <c:v>-0.059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 b="1">
                  <a:solidFill>
                    <a:srgbClr val="333A4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high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>
                <a:solidFill>
                  <a:srgbClr val="333A4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dPt>
            <c:idx val="0"/>
            <c:spPr>
              <a:solidFill>
                <a:srgbClr val="A5ACB8"/>
              </a:solidFill>
            </c:spPr>
          </c:dPt>
          <c:dPt>
            <c:idx val="1"/>
            <c:spPr>
              <a:solidFill>
                <a:srgbClr val="A5ACB8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dPt>
            <c:idx val="3"/>
            <c:spPr>
              <a:solidFill>
                <a:srgbClr val="1E2761"/>
              </a:solidFill>
            </c:spPr>
          </c:dPt>
          <c:dPt>
            <c:idx val="4"/>
            <c:spPr>
              <a:solidFill>
                <a:srgbClr val="C0392B"/>
              </a:solidFill>
            </c:spPr>
          </c:dPt>
          <c:cat>
            <c:strRef>
              <c:f>Sheet1!$A$2:$A$6</c:f>
              <c:strCache>
                <c:ptCount val="5"/>
                <c:pt idx="0">
                  <c:v>Coin flip</c:v>
                </c:pt>
                <c:pt idx="1">
                  <c:v>Persistence
(today's direction)</c:v>
                </c:pt>
                <c:pt idx="2">
                  <c:v>Gradient boosting</c:v>
                </c:pt>
                <c:pt idx="3">
                  <c:v>Logistic regression</c:v>
                </c:pt>
                <c:pt idx="4">
                  <c:v>Always predict “up”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0.5042</c:v>
                </c:pt>
                <c:pt idx="1">
                  <c:v>0.4725</c:v>
                </c:pt>
                <c:pt idx="2">
                  <c:v>0.5186</c:v>
                </c:pt>
                <c:pt idx="3">
                  <c:v>0.5345</c:v>
                </c:pt>
                <c:pt idx="4">
                  <c:v>0.5393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 b="1">
                  <a:solidFill>
                    <a:srgbClr val="333A4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>
                <a:solidFill>
                  <a:srgbClr val="333A4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4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Buy &amp; hold (same days)</c:v>
                </c:pt>
              </c:strCache>
            </c:strRef>
          </c:tx>
          <c:spPr>
            <a:ln w="25400">
              <a:solidFill>
                <a:srgbClr val="A5ACB8"/>
              </a:solidFill>
            </a:ln>
          </c:spPr>
          <c:marker>
            <c:symbol val="none"/>
          </c:marker>
          <c:cat>
            <c:strRef>
              <c:f>Sheet1!$A$2:$A$140</c:f>
              <c:strCache>
                <c:ptCount val="1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'12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'13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'14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'15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>'16</c:v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'17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>'18</c:v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>'19</c:v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'20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>'21</c:v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>'22</c:v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>'23</c:v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</c:strCache>
            </c:strRef>
          </c:cat>
          <c:val>
            <c:numRef>
              <c:f>Sheet1!$B$2:$B$140</c:f>
              <c:numCache>
                <c:formatCode>General</c:formatCode>
                <c:ptCount val="139"/>
                <c:pt idx="0">
                  <c:v>1.002</c:v>
                </c:pt>
                <c:pt idx="1">
                  <c:v>0.99</c:v>
                </c:pt>
                <c:pt idx="2">
                  <c:v>0.978</c:v>
                </c:pt>
                <c:pt idx="3">
                  <c:v>0.973</c:v>
                </c:pt>
                <c:pt idx="4">
                  <c:v>1.007</c:v>
                </c:pt>
                <c:pt idx="5">
                  <c:v>1.01</c:v>
                </c:pt>
                <c:pt idx="6">
                  <c:v>1.036</c:v>
                </c:pt>
                <c:pt idx="7">
                  <c:v>1.049</c:v>
                </c:pt>
                <c:pt idx="8">
                  <c:v>1.073</c:v>
                </c:pt>
                <c:pt idx="9">
                  <c:v>1.063</c:v>
                </c:pt>
                <c:pt idx="10">
                  <c:v>1.101</c:v>
                </c:pt>
                <c:pt idx="11">
                  <c:v>1.057</c:v>
                </c:pt>
                <c:pt idx="12">
                  <c:v>1.074</c:v>
                </c:pt>
                <c:pt idx="13">
                  <c:v>1.11</c:v>
                </c:pt>
                <c:pt idx="14">
                  <c:v>1.139</c:v>
                </c:pt>
                <c:pt idx="15">
                  <c:v>1.154</c:v>
                </c:pt>
                <c:pt idx="16">
                  <c:v>1.075</c:v>
                </c:pt>
                <c:pt idx="17">
                  <c:v>1.125</c:v>
                </c:pt>
                <c:pt idx="18">
                  <c:v>1.146</c:v>
                </c:pt>
                <c:pt idx="19">
                  <c:v>1.144</c:v>
                </c:pt>
                <c:pt idx="20">
                  <c:v>1.161</c:v>
                </c:pt>
                <c:pt idx="21">
                  <c:v>1.19</c:v>
                </c:pt>
                <c:pt idx="22">
                  <c:v>1.161</c:v>
                </c:pt>
                <c:pt idx="23">
                  <c:v>1.209</c:v>
                </c:pt>
                <c:pt idx="24">
                  <c:v>1.192</c:v>
                </c:pt>
                <c:pt idx="25">
                  <c:v>1.22</c:v>
                </c:pt>
                <c:pt idx="26">
                  <c:v>1.241</c:v>
                </c:pt>
                <c:pt idx="27">
                  <c:v>1.24</c:v>
                </c:pt>
                <c:pt idx="28">
                  <c:v>1.218</c:v>
                </c:pt>
                <c:pt idx="29">
                  <c:v>1.269</c:v>
                </c:pt>
                <c:pt idx="30">
                  <c:v>1.241</c:v>
                </c:pt>
                <c:pt idx="31">
                  <c:v>1.27</c:v>
                </c:pt>
                <c:pt idx="32">
                  <c:v>1.272</c:v>
                </c:pt>
                <c:pt idx="33">
                  <c:v>1.251</c:v>
                </c:pt>
                <c:pt idx="34">
                  <c:v>1.263</c:v>
                </c:pt>
                <c:pt idx="35">
                  <c:v>1.137</c:v>
                </c:pt>
                <c:pt idx="36">
                  <c:v>1.171</c:v>
                </c:pt>
                <c:pt idx="37">
                  <c:v>1.281</c:v>
                </c:pt>
                <c:pt idx="38">
                  <c:v>1.28</c:v>
                </c:pt>
                <c:pt idx="39">
                  <c:v>1.221</c:v>
                </c:pt>
                <c:pt idx="40">
                  <c:v>1.177</c:v>
                </c:pt>
                <c:pt idx="41">
                  <c:v>1.206</c:v>
                </c:pt>
                <c:pt idx="42">
                  <c:v>1.264</c:v>
                </c:pt>
                <c:pt idx="43">
                  <c:v>1.287</c:v>
                </c:pt>
                <c:pt idx="44">
                  <c:v>1.298</c:v>
                </c:pt>
                <c:pt idx="45">
                  <c:v>1.293</c:v>
                </c:pt>
                <c:pt idx="46">
                  <c:v>1.334</c:v>
                </c:pt>
                <c:pt idx="47">
                  <c:v>1.332</c:v>
                </c:pt>
                <c:pt idx="48">
                  <c:v>1.311</c:v>
                </c:pt>
                <c:pt idx="49">
                  <c:v>1.275</c:v>
                </c:pt>
                <c:pt idx="50">
                  <c:v>1.323</c:v>
                </c:pt>
                <c:pt idx="51">
                  <c:v>1.363</c:v>
                </c:pt>
                <c:pt idx="52">
                  <c:v>1.391</c:v>
                </c:pt>
                <c:pt idx="53">
                  <c:v>1.462</c:v>
                </c:pt>
                <c:pt idx="54">
                  <c:v>1.437</c:v>
                </c:pt>
                <c:pt idx="55">
                  <c:v>1.453</c:v>
                </c:pt>
                <c:pt idx="56">
                  <c:v>1.454</c:v>
                </c:pt>
                <c:pt idx="57">
                  <c:v>1.455</c:v>
                </c:pt>
                <c:pt idx="58">
                  <c:v>1.485</c:v>
                </c:pt>
                <c:pt idx="59">
                  <c:v>1.456</c:v>
                </c:pt>
                <c:pt idx="60">
                  <c:v>1.487</c:v>
                </c:pt>
                <c:pt idx="61">
                  <c:v>1.503</c:v>
                </c:pt>
                <c:pt idx="62">
                  <c:v>1.531</c:v>
                </c:pt>
                <c:pt idx="63">
                  <c:v>1.546</c:v>
                </c:pt>
                <c:pt idx="64">
                  <c:v>1.596</c:v>
                </c:pt>
                <c:pt idx="65">
                  <c:v>1.514</c:v>
                </c:pt>
                <c:pt idx="66">
                  <c:v>1.46</c:v>
                </c:pt>
                <c:pt idx="67">
                  <c:v>1.514</c:v>
                </c:pt>
                <c:pt idx="68">
                  <c:v>1.56</c:v>
                </c:pt>
                <c:pt idx="69">
                  <c:v>1.549</c:v>
                </c:pt>
                <c:pt idx="70">
                  <c:v>1.599</c:v>
                </c:pt>
                <c:pt idx="71">
                  <c:v>1.636</c:v>
                </c:pt>
                <c:pt idx="72">
                  <c:v>1.649</c:v>
                </c:pt>
                <c:pt idx="73">
                  <c:v>1.554</c:v>
                </c:pt>
                <c:pt idx="74">
                  <c:v>1.629</c:v>
                </c:pt>
                <c:pt idx="75">
                  <c:v>1.466</c:v>
                </c:pt>
                <c:pt idx="76">
                  <c:v>1.58</c:v>
                </c:pt>
                <c:pt idx="77">
                  <c:v>1.637</c:v>
                </c:pt>
                <c:pt idx="78">
                  <c:v>1.661</c:v>
                </c:pt>
                <c:pt idx="79">
                  <c:v>1.694</c:v>
                </c:pt>
                <c:pt idx="80">
                  <c:v>1.59</c:v>
                </c:pt>
                <c:pt idx="81">
                  <c:v>1.719</c:v>
                </c:pt>
                <c:pt idx="82">
                  <c:v>1.703</c:v>
                </c:pt>
                <c:pt idx="83">
                  <c:v>1.675</c:v>
                </c:pt>
                <c:pt idx="84">
                  <c:v>1.695</c:v>
                </c:pt>
                <c:pt idx="85">
                  <c:v>1.769</c:v>
                </c:pt>
                <c:pt idx="86">
                  <c:v>1.796</c:v>
                </c:pt>
                <c:pt idx="87">
                  <c:v>1.879</c:v>
                </c:pt>
                <c:pt idx="88">
                  <c:v>1.874</c:v>
                </c:pt>
                <c:pt idx="89">
                  <c:v>1.783</c:v>
                </c:pt>
                <c:pt idx="90">
                  <c:v>1.425</c:v>
                </c:pt>
                <c:pt idx="91">
                  <c:v>1.611</c:v>
                </c:pt>
                <c:pt idx="92">
                  <c:v>1.74</c:v>
                </c:pt>
                <c:pt idx="93">
                  <c:v>1.813</c:v>
                </c:pt>
                <c:pt idx="94">
                  <c:v>1.896</c:v>
                </c:pt>
                <c:pt idx="95">
                  <c:v>2.029</c:v>
                </c:pt>
                <c:pt idx="96">
                  <c:v>1.945</c:v>
                </c:pt>
                <c:pt idx="97">
                  <c:v>1.905</c:v>
                </c:pt>
                <c:pt idx="98">
                  <c:v>2.107</c:v>
                </c:pt>
                <c:pt idx="99">
                  <c:v>2.147</c:v>
                </c:pt>
                <c:pt idx="100">
                  <c:v>2.189</c:v>
                </c:pt>
                <c:pt idx="101">
                  <c:v>2.263</c:v>
                </c:pt>
                <c:pt idx="102">
                  <c:v>2.331</c:v>
                </c:pt>
                <c:pt idx="103">
                  <c:v>2.431</c:v>
                </c:pt>
                <c:pt idx="104">
                  <c:v>2.437</c:v>
                </c:pt>
                <c:pt idx="105">
                  <c:v>2.505</c:v>
                </c:pt>
                <c:pt idx="106">
                  <c:v>2.544</c:v>
                </c:pt>
                <c:pt idx="107">
                  <c:v>2.609</c:v>
                </c:pt>
                <c:pt idx="108">
                  <c:v>2.512</c:v>
                </c:pt>
                <c:pt idx="109">
                  <c:v>2.66</c:v>
                </c:pt>
                <c:pt idx="110">
                  <c:v>2.602</c:v>
                </c:pt>
                <c:pt idx="111">
                  <c:v>2.773</c:v>
                </c:pt>
                <c:pt idx="112">
                  <c:v>2.628</c:v>
                </c:pt>
                <c:pt idx="113">
                  <c:v>2.489</c:v>
                </c:pt>
                <c:pt idx="114">
                  <c:v>2.628</c:v>
                </c:pt>
                <c:pt idx="115">
                  <c:v>2.402</c:v>
                </c:pt>
                <c:pt idx="116">
                  <c:v>2.371</c:v>
                </c:pt>
                <c:pt idx="117">
                  <c:v>2.211</c:v>
                </c:pt>
                <c:pt idx="118">
                  <c:v>2.381</c:v>
                </c:pt>
                <c:pt idx="119">
                  <c:v>2.293</c:v>
                </c:pt>
                <c:pt idx="120">
                  <c:v>2.127</c:v>
                </c:pt>
                <c:pt idx="121">
                  <c:v>2.229</c:v>
                </c:pt>
                <c:pt idx="122">
                  <c:v>2.357</c:v>
                </c:pt>
                <c:pt idx="123">
                  <c:v>2.211</c:v>
                </c:pt>
                <c:pt idx="124">
                  <c:v>2.381</c:v>
                </c:pt>
                <c:pt idx="125">
                  <c:v>2.284</c:v>
                </c:pt>
                <c:pt idx="126">
                  <c:v>2.384</c:v>
                </c:pt>
                <c:pt idx="127">
                  <c:v>2.387</c:v>
                </c:pt>
                <c:pt idx="128">
                  <c:v>2.418</c:v>
                </c:pt>
                <c:pt idx="129">
                  <c:v>2.552</c:v>
                </c:pt>
                <c:pt idx="130">
                  <c:v>2.622</c:v>
                </c:pt>
                <c:pt idx="131">
                  <c:v>2.587</c:v>
                </c:pt>
                <c:pt idx="132">
                  <c:v>2.457</c:v>
                </c:pt>
                <c:pt idx="133">
                  <c:v>2.428</c:v>
                </c:pt>
                <c:pt idx="134">
                  <c:v>2.632</c:v>
                </c:pt>
                <c:pt idx="135">
                  <c:v>2.717</c:v>
                </c:pt>
                <c:pt idx="136">
                  <c:v>2.81</c:v>
                </c:pt>
                <c:pt idx="137">
                  <c:v>2.943</c:v>
                </c:pt>
                <c:pt idx="138">
                  <c:v>2.939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Follow the signal (no costs)</c:v>
                </c:pt>
              </c:strCache>
            </c:strRef>
          </c:tx>
          <c:spPr>
            <a:ln w="31750">
              <a:solidFill>
                <a:srgbClr val="1E2761"/>
              </a:solidFill>
            </a:ln>
          </c:spPr>
          <c:marker>
            <c:symbol val="none"/>
          </c:marker>
          <c:cat>
            <c:strRef>
              <c:f>Sheet1!$A$2:$A$140</c:f>
              <c:strCache>
                <c:ptCount val="1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'12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'13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'14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'15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>'16</c:v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'17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>'18</c:v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>'19</c:v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'20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>'21</c:v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>'22</c:v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>'23</c:v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</c:strCache>
            </c:strRef>
          </c:cat>
          <c:val>
            <c:numRef>
              <c:f>Sheet1!$C$2:$C$140</c:f>
              <c:numCache>
                <c:formatCode>General</c:formatCode>
                <c:ptCount val="139"/>
                <c:pt idx="0">
                  <c:v>1.002</c:v>
                </c:pt>
                <c:pt idx="1">
                  <c:v>0.993</c:v>
                </c:pt>
                <c:pt idx="2">
                  <c:v>1.009</c:v>
                </c:pt>
                <c:pt idx="3">
                  <c:v>0.99</c:v>
                </c:pt>
                <c:pt idx="4">
                  <c:v>1.019</c:v>
                </c:pt>
                <c:pt idx="5">
                  <c:v>1.023</c:v>
                </c:pt>
                <c:pt idx="6">
                  <c:v>1.047</c:v>
                </c:pt>
                <c:pt idx="7">
                  <c:v>1.069</c:v>
                </c:pt>
                <c:pt idx="8">
                  <c:v>1.093</c:v>
                </c:pt>
                <c:pt idx="9">
                  <c:v>1.074</c:v>
                </c:pt>
                <c:pt idx="10">
                  <c:v>1.113</c:v>
                </c:pt>
                <c:pt idx="11">
                  <c:v>1.07</c:v>
                </c:pt>
                <c:pt idx="12">
                  <c:v>1.092</c:v>
                </c:pt>
                <c:pt idx="13">
                  <c:v>1.124</c:v>
                </c:pt>
                <c:pt idx="14">
                  <c:v>1.153</c:v>
                </c:pt>
                <c:pt idx="15">
                  <c:v>1.168</c:v>
                </c:pt>
                <c:pt idx="16">
                  <c:v>1.088</c:v>
                </c:pt>
                <c:pt idx="17">
                  <c:v>1.133</c:v>
                </c:pt>
                <c:pt idx="18">
                  <c:v>1.156</c:v>
                </c:pt>
                <c:pt idx="19">
                  <c:v>1.164</c:v>
                </c:pt>
                <c:pt idx="20">
                  <c:v>1.178</c:v>
                </c:pt>
                <c:pt idx="21">
                  <c:v>1.204</c:v>
                </c:pt>
                <c:pt idx="22">
                  <c:v>1.174</c:v>
                </c:pt>
                <c:pt idx="23">
                  <c:v>1.224</c:v>
                </c:pt>
                <c:pt idx="24">
                  <c:v>1.207</c:v>
                </c:pt>
                <c:pt idx="25">
                  <c:v>1.211</c:v>
                </c:pt>
                <c:pt idx="26">
                  <c:v>1.233</c:v>
                </c:pt>
                <c:pt idx="27">
                  <c:v>1.232</c:v>
                </c:pt>
                <c:pt idx="28">
                  <c:v>1.209</c:v>
                </c:pt>
                <c:pt idx="29">
                  <c:v>1.26</c:v>
                </c:pt>
                <c:pt idx="30">
                  <c:v>1.239</c:v>
                </c:pt>
                <c:pt idx="31">
                  <c:v>1.267</c:v>
                </c:pt>
                <c:pt idx="32">
                  <c:v>1.271</c:v>
                </c:pt>
                <c:pt idx="33">
                  <c:v>1.25</c:v>
                </c:pt>
                <c:pt idx="34">
                  <c:v>1.248</c:v>
                </c:pt>
                <c:pt idx="35">
                  <c:v>1.132</c:v>
                </c:pt>
                <c:pt idx="36">
                  <c:v>1.163</c:v>
                </c:pt>
                <c:pt idx="37">
                  <c:v>1.272</c:v>
                </c:pt>
                <c:pt idx="38">
                  <c:v>1.272</c:v>
                </c:pt>
                <c:pt idx="39">
                  <c:v>1.224</c:v>
                </c:pt>
                <c:pt idx="40">
                  <c:v>1.193</c:v>
                </c:pt>
                <c:pt idx="41">
                  <c:v>1.231</c:v>
                </c:pt>
                <c:pt idx="42">
                  <c:v>1.286</c:v>
                </c:pt>
                <c:pt idx="43">
                  <c:v>1.295</c:v>
                </c:pt>
                <c:pt idx="44">
                  <c:v>1.306</c:v>
                </c:pt>
                <c:pt idx="45">
                  <c:v>1.298</c:v>
                </c:pt>
                <c:pt idx="46">
                  <c:v>1.34</c:v>
                </c:pt>
                <c:pt idx="47">
                  <c:v>1.338</c:v>
                </c:pt>
                <c:pt idx="48">
                  <c:v>1.321</c:v>
                </c:pt>
                <c:pt idx="49">
                  <c:v>1.285</c:v>
                </c:pt>
                <c:pt idx="50">
                  <c:v>1.319</c:v>
                </c:pt>
                <c:pt idx="51">
                  <c:v>1.359</c:v>
                </c:pt>
                <c:pt idx="52">
                  <c:v>1.382</c:v>
                </c:pt>
                <c:pt idx="53">
                  <c:v>1.449</c:v>
                </c:pt>
                <c:pt idx="54">
                  <c:v>1.423</c:v>
                </c:pt>
                <c:pt idx="55">
                  <c:v>1.442</c:v>
                </c:pt>
                <c:pt idx="56">
                  <c:v>1.443</c:v>
                </c:pt>
                <c:pt idx="57">
                  <c:v>1.456</c:v>
                </c:pt>
                <c:pt idx="58">
                  <c:v>1.481</c:v>
                </c:pt>
                <c:pt idx="59">
                  <c:v>1.455</c:v>
                </c:pt>
                <c:pt idx="60">
                  <c:v>1.487</c:v>
                </c:pt>
                <c:pt idx="61">
                  <c:v>1.498</c:v>
                </c:pt>
                <c:pt idx="62">
                  <c:v>1.524</c:v>
                </c:pt>
                <c:pt idx="63">
                  <c:v>1.536</c:v>
                </c:pt>
                <c:pt idx="64">
                  <c:v>1.586</c:v>
                </c:pt>
                <c:pt idx="65">
                  <c:v>1.504</c:v>
                </c:pt>
                <c:pt idx="66">
                  <c:v>1.483</c:v>
                </c:pt>
                <c:pt idx="67">
                  <c:v>1.526</c:v>
                </c:pt>
                <c:pt idx="68">
                  <c:v>1.535</c:v>
                </c:pt>
                <c:pt idx="69">
                  <c:v>1.525</c:v>
                </c:pt>
                <c:pt idx="70">
                  <c:v>1.578</c:v>
                </c:pt>
                <c:pt idx="71">
                  <c:v>1.611</c:v>
                </c:pt>
                <c:pt idx="72">
                  <c:v>1.619</c:v>
                </c:pt>
                <c:pt idx="73">
                  <c:v>1.548</c:v>
                </c:pt>
                <c:pt idx="74">
                  <c:v>1.539</c:v>
                </c:pt>
                <c:pt idx="75">
                  <c:v>1.419</c:v>
                </c:pt>
                <c:pt idx="76">
                  <c:v>1.516</c:v>
                </c:pt>
                <c:pt idx="77">
                  <c:v>1.568</c:v>
                </c:pt>
                <c:pt idx="78">
                  <c:v>1.591</c:v>
                </c:pt>
                <c:pt idx="79">
                  <c:v>1.625</c:v>
                </c:pt>
                <c:pt idx="80">
                  <c:v>1.537</c:v>
                </c:pt>
                <c:pt idx="81">
                  <c:v>1.617</c:v>
                </c:pt>
                <c:pt idx="82">
                  <c:v>1.588</c:v>
                </c:pt>
                <c:pt idx="83">
                  <c:v>1.542</c:v>
                </c:pt>
                <c:pt idx="84">
                  <c:v>1.56</c:v>
                </c:pt>
                <c:pt idx="85">
                  <c:v>1.629</c:v>
                </c:pt>
                <c:pt idx="86">
                  <c:v>1.641</c:v>
                </c:pt>
                <c:pt idx="87">
                  <c:v>1.717</c:v>
                </c:pt>
                <c:pt idx="88">
                  <c:v>1.713</c:v>
                </c:pt>
                <c:pt idx="89">
                  <c:v>1.629</c:v>
                </c:pt>
                <c:pt idx="90">
                  <c:v>1.683</c:v>
                </c:pt>
                <c:pt idx="91">
                  <c:v>1.956</c:v>
                </c:pt>
                <c:pt idx="92">
                  <c:v>2.138</c:v>
                </c:pt>
                <c:pt idx="93">
                  <c:v>2.204</c:v>
                </c:pt>
                <c:pt idx="94">
                  <c:v>2.288</c:v>
                </c:pt>
                <c:pt idx="95">
                  <c:v>2.449</c:v>
                </c:pt>
                <c:pt idx="96">
                  <c:v>2.44</c:v>
                </c:pt>
                <c:pt idx="97">
                  <c:v>2.389</c:v>
                </c:pt>
                <c:pt idx="98">
                  <c:v>2.587</c:v>
                </c:pt>
                <c:pt idx="99">
                  <c:v>2.637</c:v>
                </c:pt>
                <c:pt idx="100">
                  <c:v>2.686</c:v>
                </c:pt>
                <c:pt idx="101">
                  <c:v>2.777</c:v>
                </c:pt>
                <c:pt idx="102">
                  <c:v>2.844</c:v>
                </c:pt>
                <c:pt idx="103">
                  <c:v>2.967</c:v>
                </c:pt>
                <c:pt idx="104">
                  <c:v>2.96</c:v>
                </c:pt>
                <c:pt idx="105">
                  <c:v>3.043</c:v>
                </c:pt>
                <c:pt idx="106">
                  <c:v>3.08</c:v>
                </c:pt>
                <c:pt idx="107">
                  <c:v>3.158</c:v>
                </c:pt>
                <c:pt idx="108">
                  <c:v>3.008</c:v>
                </c:pt>
                <c:pt idx="109">
                  <c:v>3.186</c:v>
                </c:pt>
                <c:pt idx="110">
                  <c:v>3.116</c:v>
                </c:pt>
                <c:pt idx="111">
                  <c:v>3.352</c:v>
                </c:pt>
                <c:pt idx="112">
                  <c:v>3.136</c:v>
                </c:pt>
                <c:pt idx="113">
                  <c:v>2.909</c:v>
                </c:pt>
                <c:pt idx="114">
                  <c:v>2.996</c:v>
                </c:pt>
                <c:pt idx="115">
                  <c:v>2.843</c:v>
                </c:pt>
                <c:pt idx="116">
                  <c:v>2.994</c:v>
                </c:pt>
                <c:pt idx="117">
                  <c:v>2.979</c:v>
                </c:pt>
                <c:pt idx="118">
                  <c:v>3.172</c:v>
                </c:pt>
                <c:pt idx="119">
                  <c:v>3.048</c:v>
                </c:pt>
                <c:pt idx="120">
                  <c:v>2.901</c:v>
                </c:pt>
                <c:pt idx="121">
                  <c:v>2.934</c:v>
                </c:pt>
                <c:pt idx="122">
                  <c:v>3.058</c:v>
                </c:pt>
                <c:pt idx="123">
                  <c:v>2.909</c:v>
                </c:pt>
                <c:pt idx="124">
                  <c:v>3.067</c:v>
                </c:pt>
                <c:pt idx="125">
                  <c:v>2.976</c:v>
                </c:pt>
                <c:pt idx="126">
                  <c:v>3.092</c:v>
                </c:pt>
                <c:pt idx="127">
                  <c:v>3.102</c:v>
                </c:pt>
                <c:pt idx="128">
                  <c:v>3.136</c:v>
                </c:pt>
                <c:pt idx="129">
                  <c:v>3.269</c:v>
                </c:pt>
                <c:pt idx="130">
                  <c:v>3.358</c:v>
                </c:pt>
                <c:pt idx="131">
                  <c:v>3.373</c:v>
                </c:pt>
                <c:pt idx="132">
                  <c:v>3.19</c:v>
                </c:pt>
                <c:pt idx="133">
                  <c:v>3.07</c:v>
                </c:pt>
                <c:pt idx="134">
                  <c:v>3.234</c:v>
                </c:pt>
                <c:pt idx="135">
                  <c:v>3.333</c:v>
                </c:pt>
                <c:pt idx="136">
                  <c:v>3.445</c:v>
                </c:pt>
                <c:pt idx="137">
                  <c:v>3.606</c:v>
                </c:pt>
                <c:pt idx="138">
                  <c:v>3.602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&quot;$&quot;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in one breath: this tests whether headline tone carries measurable information about the next day's S&amp;P 500 move. It is a research question with a long academic pedigree — not a trading pitch. The punchline is honest: a faint trace, not a usable edge, and the methodology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'so are you predicting stocks?': no — deliberately. The question is whether there is any measurable relationship at all, answered with the discipline that separates a defensible result from a data-mined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numbers to memorize: 0.18 same-day (reverse causality — recaps), 0.03 next-day at p = 0.052. The tercile chart is the intuitive version: 56.8% up-days after the most positive news vs 51.8% after the most negative. Suggestive, not established — several cuts were examined.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scorer passes its sanity checks convincingly: 2008 at -0.34 vs -0.06 overall, COVID at -0.20. The regime split answers 'where would this ever matter': only when volatility and fear are elevated — and even there, p-values hover at 0.10.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honesty is the slide's job: a direction model must beat the majority class, not 50%. Ablations: sentiment-only 53.1%, price-only 54.6% — sentiment adds nothing a model can use at daily index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Favorite exhibit: a skill-free model produced a market-beating equity curve under honest conditions. If a pretty curve can sit on top of statistical noise here, treat every unaudited backtest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use cases modestly: flagging and monitoring, with humans in the loop — plus the evaluation framework itself, which is the genuinely reusable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up during Q&amp;A. If someone technical wants one artifact, point them to tests/test_leakage.py — the corruption test communicates the project's standards in thirty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78308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Financial News Sentiment and Next-Day Market Movement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1546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What 16 years of headlines can — and cannot — tell you about the S&amp;P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4348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18,153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real headlines, FinBERT-scored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44348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3,507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trading days aligned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44348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2008–2024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crisis to crisis to calm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Shalom Wu   ·   research analysis of event-driven sentiment   ·   not investment advice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The question we actually tested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E2761"/>
                </a:solidFill>
                <a:latin typeface="Cambria"/>
              </a:rPr>
              <a:t>Is there a measurable relationship between the sentiment of financial news headlines and the S&amp;P 500's movement the next trading 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61264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 i="0">
                <a:solidFill>
                  <a:srgbClr val="333A47"/>
                </a:solidFill>
                <a:latin typeface="Calibri"/>
              </a:rPr>
              <a:t>A real, well-studied question in empirical finance — the event-driven sentiment literature that begins with Tetlock (2007), which found pessimistic newspaper language preceded slightly lower returns.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 i="0">
                <a:solidFill>
                  <a:srgbClr val="333A47"/>
                </a:solidFill>
                <a:latin typeface="Calibri"/>
              </a:rPr>
              <a:t>It sits on a genuine tension: </a:t>
            </a:r>
            <a:r>
              <a:rPr sz="1300" b="1" i="0">
                <a:solidFill>
                  <a:srgbClr val="333A47"/>
                </a:solidFill>
                <a:latin typeface="Calibri"/>
              </a:rPr>
              <a:t>markets absorb information fast</a:t>
            </a:r>
            <a:r>
              <a:rPr sz="1300" b="0" i="0">
                <a:solidFill>
                  <a:srgbClr val="333A47"/>
                </a:solidFill>
                <a:latin typeface="Calibri"/>
              </a:rPr>
              <a:t>, so theory says the relationship should be nearly zero — but “nearly” is an empirical question, especially around crises and panics.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333A47"/>
                </a:solidFill>
                <a:latin typeface="Calibri"/>
              </a:rPr>
              <a:t>The interesting part is not “can we get rich” (we can't, and the analysis shows why). It is whether news text carries </a:t>
            </a:r>
            <a:r>
              <a:rPr sz="1300" b="1" i="0">
                <a:solidFill>
                  <a:srgbClr val="333A47"/>
                </a:solidFill>
                <a:latin typeface="Calibri"/>
              </a:rPr>
              <a:t>any incremental information at all</a:t>
            </a:r>
            <a:r>
              <a:rPr sz="1300" b="0" i="0">
                <a:solidFill>
                  <a:srgbClr val="333A47"/>
                </a:solidFill>
                <a:latin typeface="Calibri"/>
              </a:rPr>
              <a:t> — and how easily sloppy methodology manufactures the illusion that it does.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143000"/>
            <a:ext cx="4572000" cy="4937760"/>
          </a:xfrm>
          <a:prstGeom prst="roundRect">
            <a:avLst>
              <a:gd name="adj" fmla="val 4500"/>
            </a:avLst>
          </a:prstGeom>
          <a:solidFill>
            <a:srgbClr val="E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463040"/>
            <a:ext cx="3977639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What this is NOT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A trading system.  </a:t>
            </a:r>
            <a:r>
              <a:rPr sz="1300" b="0" i="0">
                <a:solidFill>
                  <a:srgbClr val="333A47"/>
                </a:solidFill>
                <a:latin typeface="Calibri"/>
              </a:rPr>
              <a:t>No output here is a signal to act on.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A price predictor.  </a:t>
            </a:r>
            <a:r>
              <a:rPr sz="1300" b="0" i="0">
                <a:solidFill>
                  <a:srgbClr val="333A47"/>
                </a:solidFill>
                <a:latin typeface="Calibri"/>
              </a:rPr>
              <a:t>Daily index direction is close to a coin flip, and stays that way here.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Investment advice.  </a:t>
            </a:r>
            <a:r>
              <a:rPr sz="1300" b="0" i="0">
                <a:solidFill>
                  <a:srgbClr val="333A47"/>
                </a:solidFill>
                <a:latin typeface="Calibri"/>
              </a:rPr>
              <a:t>Every result is a historical statistical statement about 2008–2024.</a:t>
            </a:r>
          </a:p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B7280"/>
                </a:solidFill>
                <a:latin typeface="Calibri"/>
              </a:rPr>
              <a:t>Every design choice below exists to keep the answer honest rather than impressive.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Key finding: a faint next-day signal at the edge of significance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212080" cy="2240280"/>
          </a:xfrm>
          <a:prstGeom prst="roundRect">
            <a:avLst>
              <a:gd name="adj" fmla="val 4500"/>
            </a:avLst>
          </a:prstGeom>
          <a:solidFill>
            <a:srgbClr val="E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E2761"/>
                </a:solidFill>
                <a:latin typeface="Cambria"/>
              </a:rPr>
              <a:t>r = 0.18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   same-day, p &lt; 0.0001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333A47"/>
                </a:solidFill>
                <a:latin typeface="Calibri"/>
              </a:rPr>
              <a:t>Strong — but headlines like “Stocks Plunge As…” are written after the close. The news is reporting the move. This validates the sentiment scorer; it is not predictive skill.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11880"/>
            <a:ext cx="5212080" cy="2240280"/>
          </a:xfrm>
          <a:prstGeom prst="roundRect">
            <a:avLst>
              <a:gd name="adj" fmla="val 4500"/>
            </a:avLst>
          </a:prstGeom>
          <a:solidFill>
            <a:srgbClr val="E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C0392B"/>
                </a:solidFill>
                <a:latin typeface="Cambria"/>
              </a:rPr>
              <a:t>r = 0.03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   next-day, HAC p = 0.052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333A47"/>
                </a:solidFill>
                <a:latin typeface="Calibri"/>
              </a:rPr>
              <a:t>The honest, predictive question: an order of magnitude weaker, sitting exactly on the boundary of statistical significance across 3,210 trading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188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A47"/>
                </a:solidFill>
                <a:latin typeface="Calibri"/>
              </a:rPr>
              <a:t>Share of UP next-days, by day-t sentiment tercile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63640" y="1600200"/>
          <a:ext cx="5394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3640" y="58978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χ² test of independence: p = 0.050 — real-looking, modest, fragile.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Where the signal lives — and where it doesn't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A47"/>
                </a:solidFill>
                <a:latin typeface="Calibri"/>
              </a:rPr>
              <a:t>Sanity check: mean sentiment in known stress windows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56692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1887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A47"/>
                </a:solidFill>
                <a:latin typeface="Calibri"/>
              </a:rPr>
              <a:t>Next-day correlation, by regime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6916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3A47"/>
                </a:solidFill>
                <a:latin typeface="Calibri"/>
              </a:rPr>
              <a:t>High-volatility periods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169164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r = 0.042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1691640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 = 0.10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5856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3A47"/>
                </a:solidFill>
                <a:latin typeface="Calibri"/>
              </a:rPr>
              <a:t>Low-news-volume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258568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r = 0.041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2258568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 = 0.07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82549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3A47"/>
                </a:solidFill>
                <a:latin typeface="Calibri"/>
              </a:rPr>
              <a:t>Low-volatility periods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825496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  <a:latin typeface="Calibri"/>
              </a:rPr>
              <a:t>r = 0.016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2825496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 = 0.52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9242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3A47"/>
                </a:solidFill>
                <a:latin typeface="Calibri"/>
              </a:rPr>
              <a:t>High-news-volume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392424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  <a:latin typeface="Calibri"/>
              </a:rPr>
              <a:t>r = 0.017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3392424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 = 0.54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4114800"/>
            <a:ext cx="4937760" cy="1783080"/>
          </a:xfrm>
          <a:prstGeom prst="roundRect">
            <a:avLst>
              <a:gd name="adj" fmla="val 4500"/>
            </a:avLst>
          </a:prstGeom>
          <a:solidFill>
            <a:srgbClr val="E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4389120"/>
            <a:ext cx="4343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333A47"/>
                </a:solidFill>
                <a:latin typeface="Calibri"/>
              </a:rPr>
              <a:t>What little tilt exists concentrates in turbulent, high-attention markets — consistent with the sentiment literature. In calm markets it is indistinguishable from zero.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The model: honest baselines, honest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A47"/>
                </a:solidFill>
                <a:latin typeface="Calibri"/>
              </a:rPr>
              <a:t>Out-of-sample accuracy — identical test days, walk-forward validation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58521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0" y="128016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761"/>
                </a:solidFill>
                <a:latin typeface="Cambria"/>
              </a:rPr>
              <a:t>50% was never the bar.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333A47"/>
                </a:solidFill>
                <a:latin typeface="Calibri"/>
              </a:rPr>
              <a:t>53.9% was — the S&amp;P rises on most days, so “always up” is right on most days. The model does not clear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0"/>
            <a:ext cx="4754880" cy="3063240"/>
          </a:xfrm>
          <a:prstGeom prst="roundRect">
            <a:avLst>
              <a:gd name="adj" fmla="val 4500"/>
            </a:avLst>
          </a:prstGeom>
          <a:solidFill>
            <a:srgbClr val="E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3017520"/>
            <a:ext cx="4160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AUC = 0.50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   zero ranking skill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333A47"/>
                </a:solidFill>
                <a:latin typeface="Calibri"/>
              </a:rPr>
              <a:t>McNemar paired test vs always-up: </a:t>
            </a:r>
            <a:r>
              <a:rPr sz="1250" b="1" i="0">
                <a:solidFill>
                  <a:srgbClr val="333A47"/>
                </a:solidFill>
                <a:latin typeface="Calibri"/>
              </a:rPr>
              <a:t>p = 0.45</a:t>
            </a:r>
            <a:r>
              <a:rPr sz="1250" b="0" i="0">
                <a:solidFill>
                  <a:srgbClr val="333A47"/>
                </a:solidFill>
                <a:latin typeface="Calibri"/>
              </a:rPr>
              <a:t> — the accuracy gap is luck. The boosted model is significantly </a:t>
            </a:r>
            <a:r>
              <a:rPr sz="1250" b="1" i="0">
                <a:solidFill>
                  <a:srgbClr val="333A47"/>
                </a:solidFill>
                <a:latin typeface="Calibri"/>
              </a:rPr>
              <a:t>worse</a:t>
            </a:r>
            <a:r>
              <a:rPr sz="1250" b="0" i="0">
                <a:solidFill>
                  <a:srgbClr val="333A47"/>
                </a:solidFill>
                <a:latin typeface="Calibri"/>
              </a:rPr>
              <a:t> (p = 0.04).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333A47"/>
                </a:solidFill>
                <a:latin typeface="Calibri"/>
              </a:rPr>
              <a:t>The borderline correlation on the previous slide is too weak and unstable to exploit out of sample once leakage is removed.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The backtest that looked good anyway — that's the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A47"/>
                </a:solidFill>
                <a:latin typeface="Calibri"/>
              </a:rPr>
              <a:t>Growth of $1 on out-of-sample days, zero costs assumed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66751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35240" y="1280160"/>
            <a:ext cx="4023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1E2761"/>
                </a:solidFill>
                <a:latin typeface="Cambria"/>
              </a:rPr>
              <a:t>$3.60 vs $2.94</a:t>
            </a:r>
          </a:p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…and it is still not evidence of an 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2468880"/>
            <a:ext cx="4023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333A47"/>
                </a:solidFill>
                <a:latin typeface="Calibri"/>
              </a:rPr>
              <a:t>The classifier behind this curve has an AUC of 0.50 and fails its significance test.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333A47"/>
                </a:solidFill>
                <a:latin typeface="Calibri"/>
              </a:rPr>
              <a:t>In the market 90.5% of days, it needed to dodge only a handful of bad days by luck to “win” a 16-year backtest — before costs, slippage, or taxes.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4892040"/>
            <a:ext cx="4023360" cy="1234440"/>
          </a:xfrm>
          <a:prstGeom prst="roundRect">
            <a:avLst>
              <a:gd name="adj" fmla="val 4500"/>
            </a:avLst>
          </a:prstGeom>
          <a:solidFill>
            <a:srgbClr val="E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5120640"/>
            <a:ext cx="3520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1E2761"/>
                </a:solidFill>
                <a:latin typeface="Calibri"/>
              </a:rPr>
              <a:t>This is exactly how spurious trading systems get sold. The exhibit demonstrates the trap; it does not escape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What this would — and would not — be useful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mbria"/>
              </a:rPr>
              <a:t>Defensible, modest uses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783080"/>
            <a:ext cx="53949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333A47"/>
                </a:solidFill>
                <a:latin typeface="Calibri"/>
              </a:rPr>
              <a:t>Anomaly flagging for human review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33A47"/>
                </a:solidFill>
                <a:latin typeface="Calibri"/>
              </a:rPr>
              <a:t>Sharp sentiment moves (2+σ) reliably mark genuinely eventful days — a “look here” prompt for a desk or risk function, with a person deciding what it means.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18211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54680"/>
            <a:ext cx="53949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333A47"/>
                </a:solidFill>
                <a:latin typeface="Calibri"/>
              </a:rPr>
              <a:t>Narrative and regime monitoring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33A47"/>
                </a:solidFill>
                <a:latin typeface="Calibri"/>
              </a:rPr>
              <a:t>The monthly sentiment series tracks every stress regime in the sample; useful context for risk dashboards, not a signal.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55371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26280"/>
            <a:ext cx="53949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333A47"/>
                </a:solidFill>
                <a:latin typeface="Calibri"/>
              </a:rPr>
              <a:t>A measuring stick for text signals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33A47"/>
                </a:solidFill>
                <a:latin typeface="Calibri"/>
              </a:rPr>
              <a:t>This pipeline is a reusable template: leakage audit, honest baselines, paired significance tests — run before anyone spends money on a proposed signal.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188720"/>
            <a:ext cx="4572000" cy="4754880"/>
          </a:xfrm>
          <a:prstGeom prst="roundRect">
            <a:avLst>
              <a:gd name="adj" fmla="val 4500"/>
            </a:avLst>
          </a:prstGeom>
          <a:solidFill>
            <a:srgbClr val="E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50876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C0392B"/>
                </a:solidFill>
                <a:latin typeface="Cambria"/>
              </a:rPr>
              <a:t>Not useful for: trading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333A47"/>
                </a:solidFill>
                <a:latin typeface="Calibri"/>
              </a:rPr>
              <a:t>Whatever information headlines carry is largely priced in by the same-day close — the same-day/next-day asymmetry is market efficiency behaving as advertised.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333A47"/>
                </a:solidFill>
                <a:latin typeface="Calibri"/>
              </a:rPr>
              <a:t>Date-only, close-only data cannot capture the fast part of any news reaction.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333A47"/>
                </a:solidFill>
                <a:latin typeface="Calibri"/>
              </a:rPr>
              <a:t>A borderline p-value across 3,200 days is not a tradable edge — and a lucky backtest does not change that.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Appendix: how the answer was kept honest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Leakage audit, enforced by tests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Features at day t use only data dated ≤ t. A test corrupts everything after a cutoff date and asserts every earlier feature is bit-for-bit unchanged.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41448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 real trading calendar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NYSE sessions (holidays + unscheduled closures) so “next-day” always means the immediately following session — 91.5% of dates qualify; the rest are excluded, not mislabeled.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48456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Domain-appropriate sentiment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FinBERT, fine-tuned on financial text; generic lexicons misread “bull”, “short”, “beat expectations”.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55464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The right statistics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Walk-forward validation with per-fold scaling; always-up baseline on identical test days with McNemar's paired test; Newey–West errors on all return regressions.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234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–  Date-only timestamps: pre-close vs post-close publication cannot be distinguished; same-day results are association only.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–  Close-to-close returns only — no opens, intraday prices, or volume.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–  Index-level aggregation; no stock-level cross-section, where text signals are stronger.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–  Sparse 2008–2010 coverage (results re-verified on the dense 2011+ era); source mix shifts across the sample.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–  Multiple comparisons: borderline p ≈ 0.05 findings are suggestive, not established.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–  Historical, 2008–2024. Nothing here is a forecast or investment advice.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Data: Kaggle “S&amp;P 500 with Financial News Headlines 2008–2024” (D. Dasmahapatra)   ·   Sentiment: ProsusAI/FinBERT   ·   MIT License   ·   Shalom Wu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